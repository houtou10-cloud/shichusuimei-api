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c8ad61e03445c4" /><Relationship Type="http://schemas.openxmlformats.org/officeDocument/2006/relationships/extended-properties" Target="/docProps/app.xml" Id="R1ac6652a91b04763" /><Relationship Type="http://schemas.openxmlformats.org/officeDocument/2006/relationships/officeDocument" Target="/ppt/presentation.xml" Id="R6281f92290ea41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539d9094884f78"/>
  </p:sldMasterIdLst>
  <p:notesMasterIdLst>
    <p:notesMasterId xmlns:r="http://schemas.openxmlformats.org/officeDocument/2006/relationships" r:id="R4b17ee60d70a4cf0"/>
  </p:notesMasterIdLst>
  <p:sldIdLst>
    <p:sldId xmlns:r="http://schemas.openxmlformats.org/officeDocument/2006/relationships" id="256" r:id="R43b342d867f7464a"/>
    <p:sldId xmlns:r="http://schemas.openxmlformats.org/officeDocument/2006/relationships" id="257" r:id="R73f5b4e67cfc48b9"/>
    <p:sldId xmlns:r="http://schemas.openxmlformats.org/officeDocument/2006/relationships" id="258" r:id="R7e42cc7d6a7e4718"/>
    <p:sldId xmlns:r="http://schemas.openxmlformats.org/officeDocument/2006/relationships" id="259" r:id="R2c2e0e50c63947d3"/>
    <p:sldId xmlns:r="http://schemas.openxmlformats.org/officeDocument/2006/relationships" id="260" r:id="R0410233b08cf406a"/>
    <p:sldId xmlns:r="http://schemas.openxmlformats.org/officeDocument/2006/relationships" id="261" r:id="R4a06f6f2690544d0"/>
    <p:sldId xmlns:r="http://schemas.openxmlformats.org/officeDocument/2006/relationships" id="262" r:id="Rf59dae423f9c484f"/>
    <p:sldId xmlns:r="http://schemas.openxmlformats.org/officeDocument/2006/relationships" id="263" r:id="Red167027cf094c0e"/>
    <p:sldId xmlns:r="http://schemas.openxmlformats.org/officeDocument/2006/relationships" id="264" r:id="R35badbe944534a87"/>
    <p:sldId xmlns:r="http://schemas.openxmlformats.org/officeDocument/2006/relationships" id="265" r:id="Rb22768fdb9d040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6ed8fd73a142b9" /><Relationship Type="http://schemas.openxmlformats.org/officeDocument/2006/relationships/slideMaster" Target="/ppt/slideMasters/slideMaster1.xml" Id="R82539d9094884f78" /><Relationship Type="http://schemas.openxmlformats.org/officeDocument/2006/relationships/notesMaster" Target="/ppt/notesMasters/notesMaster1.xml" Id="R4b17ee60d70a4cf0" /><Relationship Type="http://schemas.openxmlformats.org/officeDocument/2006/relationships/presProps" Target="/ppt/presProps.xml" Id="Rcd384a7ef39b46bb" /><Relationship Type="http://schemas.openxmlformats.org/officeDocument/2006/relationships/tableStyles" Target="/ppt/tableStyles.xml" Id="Ra368c0616a3042e0" /><Relationship Type="http://schemas.openxmlformats.org/officeDocument/2006/relationships/slide" Target="/ppt/slides/slide1.xml" Id="R43b342d867f7464a" /><Relationship Type="http://schemas.openxmlformats.org/officeDocument/2006/relationships/slide" Target="/ppt/slides/slide2.xml" Id="R73f5b4e67cfc48b9" /><Relationship Type="http://schemas.openxmlformats.org/officeDocument/2006/relationships/slide" Target="/ppt/slides/slide3.xml" Id="R7e42cc7d6a7e4718" /><Relationship Type="http://schemas.openxmlformats.org/officeDocument/2006/relationships/slide" Target="/ppt/slides/slide4.xml" Id="R2c2e0e50c63947d3" /><Relationship Type="http://schemas.openxmlformats.org/officeDocument/2006/relationships/slide" Target="/ppt/slides/slide5.xml" Id="R0410233b08cf406a" /><Relationship Type="http://schemas.openxmlformats.org/officeDocument/2006/relationships/slide" Target="/ppt/slides/slide6.xml" Id="R4a06f6f2690544d0" /><Relationship Type="http://schemas.openxmlformats.org/officeDocument/2006/relationships/slide" Target="/ppt/slides/slide7.xml" Id="Rf59dae423f9c484f" /><Relationship Type="http://schemas.openxmlformats.org/officeDocument/2006/relationships/slide" Target="/ppt/slides/slide8.xml" Id="Red167027cf094c0e" /><Relationship Type="http://schemas.openxmlformats.org/officeDocument/2006/relationships/slide" Target="/ppt/slides/slide9.xml" Id="R35badbe944534a87" /><Relationship Type="http://schemas.openxmlformats.org/officeDocument/2006/relationships/slide" Target="/ppt/slides/slide10.xml" Id="Rb22768fdb9d040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1d624d4d1749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36fefc33e84b55" /><Relationship Type="http://schemas.openxmlformats.org/officeDocument/2006/relationships/notesMaster" Target="/ppt/notesMasters/notesMaster1.xml" Id="Rf200dc7f4e8c43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f5fce0cdf44e61" /><Relationship Type="http://schemas.openxmlformats.org/officeDocument/2006/relationships/notesMaster" Target="/ppt/notesMasters/notesMaster1.xml" Id="R9d6fee57e8b04b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1770d6e32e472b" /><Relationship Type="http://schemas.openxmlformats.org/officeDocument/2006/relationships/notesMaster" Target="/ppt/notesMasters/notesMaster1.xml" Id="Rb9b0f0e10e4e46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c397ae678f47f3" /><Relationship Type="http://schemas.openxmlformats.org/officeDocument/2006/relationships/notesMaster" Target="/ppt/notesMasters/notesMaster1.xml" Id="Rf9de24a1a4f84f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70aa0a156941e5" /><Relationship Type="http://schemas.openxmlformats.org/officeDocument/2006/relationships/notesMaster" Target="/ppt/notesMasters/notesMaster1.xml" Id="Rf5b4e6a579554c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b3de3b8d4f4c84" /><Relationship Type="http://schemas.openxmlformats.org/officeDocument/2006/relationships/notesMaster" Target="/ppt/notesMasters/notesMaster1.xml" Id="Rdaac43de6f4a47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687742356b84fa1" /><Relationship Type="http://schemas.openxmlformats.org/officeDocument/2006/relationships/notesMaster" Target="/ppt/notesMasters/notesMaster1.xml" Id="R4c2c5adcb64241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fc57c3779254cc5" /><Relationship Type="http://schemas.openxmlformats.org/officeDocument/2006/relationships/notesMaster" Target="/ppt/notesMasters/notesMaster1.xml" Id="R28948a44964646e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43f2d4452e4661" /><Relationship Type="http://schemas.openxmlformats.org/officeDocument/2006/relationships/notesMaster" Target="/ppt/notesMasters/notesMaster1.xml" Id="R13ae2c42d1cd4b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048f9316ffe4f89" /><Relationship Type="http://schemas.openxmlformats.org/officeDocument/2006/relationships/notesMaster" Target="/ppt/notesMasters/notesMaster1.xml" Id="R43ff3c37d81c47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84396f07d7469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d71ea0298345a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63b958ce5340a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efac94aecb4a6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61c0fb3dc740e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e166a6b17c4d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48927A8-ED03-40F5-AAFE-56D267DBD4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F8EF119-35DF-4904-8EFC-5F94DBB8251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6416611-8CF9-418C-A97C-46A9B9EE25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0511813-ADD1-4997-B5B7-38FA961B25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32133A2-9D26-4BCF-B23A-744DF91510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5C14EFA-7019-4904-8737-F30CDC36A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71B652A-40D8-48A4-B902-599A589F23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427082E-EFA3-4ED5-AF47-4212C4A0ABC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1EE1CD-25FE-47CF-85F3-1A6905E02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7450FBB-1F99-4DEA-A9F1-C8AD76FC87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529551524d4570" /><Relationship Type="http://schemas.openxmlformats.org/officeDocument/2006/relationships/slideLayout" Target="/ppt/slideLayouts/slideLayout1.xml" Id="R70d05cd5b28f4d2d" /><Relationship Type="http://schemas.openxmlformats.org/officeDocument/2006/relationships/slideLayout" Target="/ppt/slideLayouts/slideLayout2.xml" Id="R6293fd4b11204b92" /><Relationship Type="http://schemas.openxmlformats.org/officeDocument/2006/relationships/slideLayout" Target="/ppt/slideLayouts/slideLayout3.xml" Id="R9e81d94f6f544df4" /><Relationship Type="http://schemas.openxmlformats.org/officeDocument/2006/relationships/slideLayout" Target="/ppt/slideLayouts/slideLayout4.xml" Id="Rda5e7523baec4b5b" /><Relationship Type="http://schemas.openxmlformats.org/officeDocument/2006/relationships/slideLayout" Target="/ppt/slideLayouts/slideLayout5.xml" Id="R442332d7deaf42fd" /><Relationship Type="http://schemas.openxmlformats.org/officeDocument/2006/relationships/slideLayout" Target="/ppt/slideLayouts/slideLayout6.xml" Id="R0b9fd83a1f1542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d05cd5b28f4d2d"/>
    <p:sldLayoutId xmlns:r="http://schemas.openxmlformats.org/officeDocument/2006/relationships" id="2147483650" r:id="R6293fd4b11204b92"/>
    <p:sldLayoutId xmlns:r="http://schemas.openxmlformats.org/officeDocument/2006/relationships" id="2147483651" r:id="R9e81d94f6f544df4"/>
    <p:sldLayoutId xmlns:r="http://schemas.openxmlformats.org/officeDocument/2006/relationships" id="2147483652" r:id="Rda5e7523baec4b5b"/>
    <p:sldLayoutId xmlns:r="http://schemas.openxmlformats.org/officeDocument/2006/relationships" id="2147483653" r:id="R442332d7deaf42fd"/>
    <p:sldLayoutId xmlns:r="http://schemas.openxmlformats.org/officeDocument/2006/relationships" id="2147483654" r:id="R0b9fd83a1f1542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05c447027c4c6c" /><Relationship Type="http://schemas.openxmlformats.org/officeDocument/2006/relationships/notesSlide" Target="/ppt/notesSlides/notesSlide1.xml" Id="Rca9a266376d94d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eb24ec981147ec" /><Relationship Type="http://schemas.openxmlformats.org/officeDocument/2006/relationships/notesSlide" Target="/ppt/notesSlides/notesSlide2.xml" Id="Re0d1c71d75cb49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f13f644f8048fc" /><Relationship Type="http://schemas.openxmlformats.org/officeDocument/2006/relationships/notesSlide" Target="/ppt/notesSlides/notesSlide3.xml" Id="Rd51da1edd0864a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67789e5394473e" /><Relationship Type="http://schemas.openxmlformats.org/officeDocument/2006/relationships/notesSlide" Target="/ppt/notesSlides/notesSlide4.xml" Id="R02fdf676904e49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e785d32a144014" /><Relationship Type="http://schemas.openxmlformats.org/officeDocument/2006/relationships/notesSlide" Target="/ppt/notesSlides/notesSlide5.xml" Id="Rf0a6aa8ba0234b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b10170263b484c" /><Relationship Type="http://schemas.openxmlformats.org/officeDocument/2006/relationships/notesSlide" Target="/ppt/notesSlides/notesSlide6.xml" Id="R586d599fbeee4e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e1821177fe4fd4" /><Relationship Type="http://schemas.openxmlformats.org/officeDocument/2006/relationships/notesSlide" Target="/ppt/notesSlides/notesSlide7.xml" Id="Rc895ca1f638f4c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13255369754142" /><Relationship Type="http://schemas.openxmlformats.org/officeDocument/2006/relationships/notesSlide" Target="/ppt/notesSlides/notesSlide8.xml" Id="R35051bd2fef24f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f9380e1828472f" /><Relationship Type="http://schemas.openxmlformats.org/officeDocument/2006/relationships/notesSlide" Target="/ppt/notesSlides/notesSlide9.xml" Id="R13de60c4c7b144f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1f7a785f8b4895" /><Relationship Type="http://schemas.openxmlformats.org/officeDocument/2006/relationships/notesSlide" Target="/ppt/notesSlides/notesSlide10.xml" Id="R8bb469f7437343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3426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7177D7-3048-497B-8ECB-8556281A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3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F285B8-E3E2-426F-AD3A-2839D846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2390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E8D9C7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E8D9C7"/>
                </a:solidFill>
              </a:defRPr>
            </a:pPr>
            <a:r>
              <a:rPr sz="1500" b="1">
                <a:solidFill>
                  <a:srgbClr val="E8D9C7"/>
                </a:solidFill>
              </a:rPr>
              <a:t>八雲式四柱推命 動画講座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EAEE6B-1273-4291-89A5-35DB6901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876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四柱推命とは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何を読むものか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4FDA6B-0950-4553-9B57-8F63AEFA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B7834B"/>
                </a:solidFill>
              </a:defRPr>
            </a:pPr>
            <a:r>
              <a:rPr sz="2100" b="1">
                <a:solidFill>
                  <a:srgbClr val="B7834B"/>
                </a:solidFill>
              </a:rPr>
              <a:t>第1講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1B6BC0-C137-4FD2-9C16-D9D0F81F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0">
                <a:solidFill>
                  <a:srgbClr val="E8D9C7"/>
                </a:solidFill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E8D9C7"/>
                </a:solidFill>
              </a:defRPr>
            </a:pPr>
            <a:r>
              <a:rPr sz="2100" b="0">
                <a:solidFill>
                  <a:srgbClr val="E8D9C7"/>
                </a:solidFill>
              </a:rPr>
              <a:t>命式の事実と解釈を分ける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5F7DF9-AC41-4238-8573-8B646611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066800"/>
            <a:ext cx="2324100" cy="44767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6B43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E4799-2E48-4AD3-B1E4-341D90F7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381125"/>
            <a:ext cx="666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58D38C-805C-4A6F-A4E2-7B39603A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381125"/>
            <a:ext cx="666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E8D9C7"/>
                </a:solidFill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E8D9C7"/>
                </a:solidFill>
              </a:defRPr>
            </a:pPr>
            <a:r>
              <a:rPr sz="2550" b="1">
                <a:solidFill>
                  <a:srgbClr val="E8D9C7"/>
                </a:solidFill>
              </a:rPr>
              <a:t>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550" b="1">
                <a:solidFill>
                  <a:srgbClr val="E8D9C7"/>
                </a:solidFill>
              </a:defRPr>
            </a:pPr>
            <a:r>
              <a:rPr sz="2550" b="1">
                <a:solidFill>
                  <a:srgbClr val="E8D9C7"/>
                </a:solidFill>
              </a:rPr>
              <a:t>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550" b="1">
                <a:solidFill>
                  <a:srgbClr val="E8D9C7"/>
                </a:solidFill>
              </a:defRPr>
            </a:pPr>
            <a:r>
              <a:rPr sz="2550" b="1">
                <a:solidFill>
                  <a:srgbClr val="E8D9C7"/>
                </a:solidFill>
              </a:rPr>
              <a:t>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550" b="1">
                <a:solidFill>
                  <a:srgbClr val="E8D9C7"/>
                </a:solidFill>
              </a:defRPr>
            </a:pPr>
            <a:r>
              <a:rPr sz="2550" b="1">
                <a:solidFill>
                  <a:srgbClr val="E8D9C7"/>
                </a:solidFill>
              </a:rPr>
              <a:t>柱</a:t>
            </a:r>
          </a:p>
        </p:txBody>
      </p:sp>
    </p:spTree>
    <p:extLst>
      <p:ext uri="{BB962C8B-B14F-4D97-AF65-F5344CB8AC3E}">
        <p14:creationId xmlns:p14="http://schemas.microsoft.com/office/powerpoint/2010/main" val="20673589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BEA614-9C5D-41E5-960F-96695EF4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3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D79255-F526-458D-AAD3-428CC8CB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B7834B"/>
                </a:solidFill>
              </a:defRPr>
            </a:pPr>
            <a:r>
              <a:rPr sz="1275" b="1">
                <a:solidFill>
                  <a:srgbClr val="B7834B"/>
                </a:solidFill>
              </a:rPr>
              <a:t>第1講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4A6B54-82F9-4C78-BA00-BCC99A27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34261F"/>
                </a:solidFill>
              </a:defRPr>
            </a:pPr>
            <a:r>
              <a:rPr sz="2850" b="1">
                <a:solidFill>
                  <a:srgbClr val="34261F"/>
                </a:solidFill>
              </a:rPr>
              <a:t>この講座で身につけること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9F6175-7195-4E78-90DE-903D5F4B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B7834B"/>
                </a:solidFill>
              </a:defRPr>
            </a:pPr>
            <a:r>
              <a:rPr sz="1125" b="1">
                <a:solidFill>
                  <a:srgbClr val="B7834B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35DE1F-18E2-4B21-85E6-820D3C45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6B4328"/>
                </a:solidFill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6B4328"/>
                </a:solidFill>
              </a:defRPr>
            </a:pPr>
            <a:r>
              <a:rPr sz="2550" b="1">
                <a:solidFill>
                  <a:srgbClr val="6B4328"/>
                </a:solidFill>
              </a:rPr>
              <a:t>命式に書かれた情報を正確に確認し、</a:t>
            </a:r>
          </a:p>
          <a:p xmlns:a="http://schemas.openxmlformats.org/drawingml/2006/main">
            <a:pPr algn="ctr">
              <a:defRPr sz="2550" b="1">
                <a:solidFill>
                  <a:srgbClr val="6B4328"/>
                </a:solidFill>
              </a:defRPr>
            </a:pPr>
            <a:r>
              <a:rPr sz="2550" b="1">
                <a:solidFill>
                  <a:srgbClr val="6B4328"/>
                </a:solidFill>
              </a:rPr>
              <a:t>事実と解釈を分けて記録できる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28743C-0AFC-4E1F-9CA5-93AD9AA6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76625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6B43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50E02A-B2B7-4B79-8188-0051BCB2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147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命式の構造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C33E12-8133-42E2-87C8-84B6AC1D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76625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6B43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EB68AC-BC00-4DEA-BE1A-9F306CA4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147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日主の位置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9F4B50-523E-4A13-A529-E8DBC99D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76625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6B43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3BE1F7-A4E4-4C80-A95E-246A0AB9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147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根拠の分離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A4F357-E85B-4F02-A1D0-EAF21425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767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0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34261F"/>
                </a:solidFill>
              </a:defRPr>
            </a:pPr>
            <a:r>
              <a:rPr sz="1725" b="0">
                <a:solidFill>
                  <a:srgbClr val="34261F"/>
                </a:solidFill>
              </a:rPr>
              <a:t>年・月・日・時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D9C19F-B0DB-416D-9798-BA112328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767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0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34261F"/>
                </a:solidFill>
              </a:defRPr>
            </a:pPr>
            <a:r>
              <a:rPr sz="1725" b="0">
                <a:solidFill>
                  <a:srgbClr val="34261F"/>
                </a:solidFill>
              </a:rPr>
              <a:t>日柱の天干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64D5F5-845A-487E-9F55-ED2DCB71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767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0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34261F"/>
                </a:solidFill>
              </a:defRPr>
            </a:pPr>
            <a:r>
              <a:rPr sz="1725" b="0">
                <a:solidFill>
                  <a:srgbClr val="34261F"/>
                </a:solidFill>
              </a:rPr>
              <a:t>確認と解釈</a:t>
            </a:r>
          </a:p>
        </p:txBody>
      </p:sp>
    </p:spTree>
    <p:extLst>
      <p:ext uri="{BB962C8B-B14F-4D97-AF65-F5344CB8AC3E}">
        <p14:creationId xmlns:p14="http://schemas.microsoft.com/office/powerpoint/2010/main" val="5201337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DAD137-B037-4460-A95A-23E79D43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3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E60B2B-DD9F-4B94-97DD-26C57264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B7834B"/>
                </a:solidFill>
              </a:defRPr>
            </a:pPr>
            <a:r>
              <a:rPr sz="1275" b="1">
                <a:solidFill>
                  <a:srgbClr val="B7834B"/>
                </a:solidFill>
              </a:rPr>
              <a:t>第1講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3E7460-2859-4EDB-9A75-FA79C37E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34261F"/>
                </a:solidFill>
              </a:defRPr>
            </a:pPr>
            <a:r>
              <a:rPr sz="2850" b="1">
                <a:solidFill>
                  <a:srgbClr val="34261F"/>
                </a:solidFill>
              </a:rPr>
              <a:t>四柱と八字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8C8262-F8D1-4255-8061-DF88B224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B7834B"/>
                </a:solidFill>
              </a:defRPr>
            </a:pPr>
            <a:r>
              <a:rPr sz="1125" b="1">
                <a:solidFill>
                  <a:srgbClr val="B7834B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3EE4AD-C905-47B2-B6B1-B43C795C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6B4328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6B4328"/>
                </a:solidFill>
              </a:defRPr>
            </a:pPr>
            <a:r>
              <a:rPr sz="1650" b="1">
                <a:solidFill>
                  <a:srgbClr val="6B4328"/>
                </a:solidFill>
              </a:rPr>
              <a:t>年柱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00C962-D95F-4682-9F6C-0D44DACE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43125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6B43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337BDA-18D8-406F-8648-BF6E72CA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2095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6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802E3F-830C-44BA-A71B-4B6435CE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0425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D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CC6C13-697F-4951-81C9-46357F0C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2095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60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ctr">
              <a:defRPr sz="3600" b="1">
                <a:solidFill>
                  <a:srgbClr val="34261F"/>
                </a:solidFill>
              </a:defRPr>
            </a:pPr>
            <a:r>
              <a:rPr sz="3600" b="1">
                <a:solidFill>
                  <a:srgbClr val="34261F"/>
                </a:solidFill>
              </a:rPr>
              <a:t>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CA28A3-5501-4133-9DB8-339D9CF0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619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6B4328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6B4328"/>
                </a:solidFill>
              </a:defRPr>
            </a:pPr>
            <a:r>
              <a:rPr sz="1650" b="1">
                <a:solidFill>
                  <a:srgbClr val="6B4328"/>
                </a:solidFill>
              </a:rPr>
              <a:t>月柱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11C2AC-8FD6-4E3D-82B3-6708FE38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43125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6B43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1B77E3-CB81-4759-928C-6EB1989C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247900"/>
            <a:ext cx="2095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6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A1C058-CE12-4AFC-A7CC-4F1B2D70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00425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D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77861E-0239-420F-9107-40733437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505200"/>
            <a:ext cx="2095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60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ctr">
              <a:defRPr sz="3600" b="1">
                <a:solidFill>
                  <a:srgbClr val="34261F"/>
                </a:solidFill>
              </a:defRPr>
            </a:pPr>
            <a:r>
              <a:rPr sz="3600" b="1">
                <a:solidFill>
                  <a:srgbClr val="34261F"/>
                </a:solidFill>
              </a:rPr>
              <a:t>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0D353B-62EE-4B9B-92EF-36CBF486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6B4328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6B4328"/>
                </a:solidFill>
              </a:defRPr>
            </a:pPr>
            <a:r>
              <a:rPr sz="1650" b="1">
                <a:solidFill>
                  <a:srgbClr val="6B4328"/>
                </a:solidFill>
              </a:rPr>
              <a:t>日柱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6618CE-1361-451A-A923-A4FC6173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43125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6B43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CB2223-C57A-498A-BFD6-DFBD34C0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47900"/>
            <a:ext cx="2095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6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20A679-129B-4177-900C-DFD948E6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00425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D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EE56BD-B911-4586-AD82-28D005AF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05200"/>
            <a:ext cx="2095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60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ctr">
              <a:defRPr sz="3600" b="1">
                <a:solidFill>
                  <a:srgbClr val="34261F"/>
                </a:solidFill>
              </a:defRPr>
            </a:pPr>
            <a:r>
              <a:rPr sz="3600" b="1">
                <a:solidFill>
                  <a:srgbClr val="34261F"/>
                </a:solidFill>
              </a:rPr>
              <a:t>巳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1EE0A9-504B-40AF-965D-480CBB44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619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6B4328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6B4328"/>
                </a:solidFill>
              </a:defRPr>
            </a:pPr>
            <a:r>
              <a:rPr sz="1650" b="1">
                <a:solidFill>
                  <a:srgbClr val="6B4328"/>
                </a:solidFill>
              </a:rPr>
              <a:t>時柱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1ED6F7-08F9-4384-9094-B45E3405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43125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6B43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35189B-8C8C-45FE-AC11-FDF130C4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47900"/>
            <a:ext cx="2095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6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1BA5CF-E119-4959-A362-A6B58D21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400425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D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35DFFD-12A7-43C6-85C3-9ECF0975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05200"/>
            <a:ext cx="2095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60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ctr">
              <a:defRPr sz="3600" b="1">
                <a:solidFill>
                  <a:srgbClr val="34261F"/>
                </a:solidFill>
              </a:defRPr>
            </a:pPr>
            <a:r>
              <a:rPr sz="3600" b="1">
                <a:solidFill>
                  <a:srgbClr val="34261F"/>
                </a:solidFill>
              </a:rPr>
              <a:t>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CDD679-0F44-4F73-9479-8941050F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43500"/>
            <a:ext cx="876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34261F"/>
                </a:solidFill>
              </a:defRPr>
            </a:pPr>
            <a:r>
              <a:rPr sz="2100" b="1">
                <a:solidFill>
                  <a:srgbClr val="34261F"/>
                </a:solidFill>
              </a:rPr>
              <a:t>各柱は天干と地支の二文字で構成される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E371E2-C708-4A4D-86AF-9E988A53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867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9B4339"/>
                </a:solidFill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9B4339"/>
                </a:solidFill>
              </a:defRPr>
            </a:pPr>
            <a:r>
              <a:rPr sz="1125" b="1">
                <a:solidFill>
                  <a:srgbClr val="9B4339"/>
                </a:solidFill>
              </a:rPr>
              <a:t>教材用の模式例</a:t>
            </a:r>
          </a:p>
        </p:txBody>
      </p:sp>
    </p:spTree>
    <p:extLst>
      <p:ext uri="{BB962C8B-B14F-4D97-AF65-F5344CB8AC3E}">
        <p14:creationId xmlns:p14="http://schemas.microsoft.com/office/powerpoint/2010/main" val="13958488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2C8F4A-148F-4478-920E-E58DC617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3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90DC6C-017E-4180-9B56-B396FF6D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B7834B"/>
                </a:solidFill>
              </a:defRPr>
            </a:pPr>
            <a:r>
              <a:rPr sz="1275" b="1">
                <a:solidFill>
                  <a:srgbClr val="B7834B"/>
                </a:solidFill>
              </a:rPr>
              <a:t>第1講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15DF8E-46D1-4890-BA5F-768CC6CC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34261F"/>
                </a:solidFill>
              </a:defRPr>
            </a:pPr>
            <a:r>
              <a:rPr sz="2850" b="1">
                <a:solidFill>
                  <a:srgbClr val="34261F"/>
                </a:solidFill>
              </a:rPr>
              <a:t>命式を見る三つの層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E27BF5-1C11-4707-AEA0-90E11922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B7834B"/>
                </a:solidFill>
              </a:defRPr>
            </a:pPr>
            <a:r>
              <a:rPr sz="1125" b="1">
                <a:solidFill>
                  <a:srgbClr val="B7834B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3E3C67-EBAB-4B9A-9FB8-6A3002E0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180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6B43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A46883-79CC-4E9D-818C-3D28AA92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526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0C8D77-B0F4-4FD9-B276-FBE2C4A4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145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4261F"/>
                </a:solidFill>
              </a:defRPr>
            </a:pPr>
            <a:r>
              <a:rPr sz="2100" b="1">
                <a:solidFill>
                  <a:srgbClr val="34261F"/>
                </a:solidFill>
              </a:rPr>
              <a:t>年・月・日・時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9AB49E-5DC1-4CCD-84F2-BCF4F132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4261F"/>
                </a:solidFill>
              </a:defRPr>
            </a:pPr>
            <a:r>
              <a:rPr sz="1800" b="0">
                <a:solidFill>
                  <a:srgbClr val="34261F"/>
                </a:solidFill>
              </a:rPr>
              <a:t>情報が置かれた場所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1F17BC-FE67-4940-9209-14C2563A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95CF23-8F48-4B4C-9A55-A4DC0FA5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180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6B43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5449FF-481B-4523-BC68-2BBD46B7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670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文字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7082E2-0E04-4CD5-B297-2248B9E4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4261F"/>
                </a:solidFill>
              </a:defRPr>
            </a:pPr>
            <a:r>
              <a:rPr sz="2100" b="1">
                <a:solidFill>
                  <a:srgbClr val="34261F"/>
                </a:solidFill>
              </a:rPr>
              <a:t>天干・地支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1ED62C-898E-4454-A00B-F1B8EEE2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289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4261F"/>
                </a:solidFill>
              </a:defRPr>
            </a:pPr>
            <a:r>
              <a:rPr sz="1800" b="0">
                <a:solidFill>
                  <a:srgbClr val="34261F"/>
                </a:solidFill>
              </a:rPr>
              <a:t>命式に書かれた要素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E5FB8-F98B-4B3D-97EA-3FE40212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671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FDA5EF-CDBF-44C3-8866-DD7C25EB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180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56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6811BA-503F-413F-B494-5B3FE050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815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関係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9CDBAE-3F99-41B4-B389-88BB0077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434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4261F"/>
                </a:solidFill>
              </a:defRPr>
            </a:pPr>
            <a:r>
              <a:rPr sz="2100" b="1">
                <a:solidFill>
                  <a:srgbClr val="34261F"/>
                </a:solidFill>
              </a:rPr>
              <a:t>日主との関係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DA69E3-009B-4D5F-BD28-2A3469DF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434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4261F"/>
                </a:solidFill>
              </a:defRPr>
            </a:pPr>
            <a:r>
              <a:rPr sz="1800" b="0">
                <a:solidFill>
                  <a:srgbClr val="34261F"/>
                </a:solidFill>
              </a:rPr>
              <a:t>解釈へ進む根拠</a:t>
            </a:r>
          </a:p>
        </p:txBody>
      </p:sp>
    </p:spTree>
    <p:extLst>
      <p:ext uri="{BB962C8B-B14F-4D97-AF65-F5344CB8AC3E}">
        <p14:creationId xmlns:p14="http://schemas.microsoft.com/office/powerpoint/2010/main" val="5942686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000437-D7F0-440E-B6EE-2841C784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3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31C826-8981-49A4-A332-55DF8E50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B7834B"/>
                </a:solidFill>
              </a:defRPr>
            </a:pPr>
            <a:r>
              <a:rPr sz="1275" b="1">
                <a:solidFill>
                  <a:srgbClr val="B7834B"/>
                </a:solidFill>
              </a:rPr>
              <a:t>第1講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03020F-D7AD-432C-A430-5262B23A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34261F"/>
                </a:solidFill>
              </a:defRPr>
            </a:pPr>
            <a:r>
              <a:rPr sz="2850" b="1">
                <a:solidFill>
                  <a:srgbClr val="34261F"/>
                </a:solidFill>
              </a:rPr>
              <a:t>模式命式の確認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712261-8795-4344-9665-D6D86068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B7834B"/>
                </a:solidFill>
              </a:defRPr>
            </a:pPr>
            <a:r>
              <a:rPr sz="1125" b="1">
                <a:solidFill>
                  <a:srgbClr val="B7834B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CFFCB4-E592-45C9-8B4F-956CBCF8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1057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150" b="1">
                <a:solidFill>
                  <a:srgbClr val="6B4328"/>
                </a:solidFill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6B4328"/>
                </a:solidFill>
              </a:defRPr>
            </a:pPr>
            <a:r>
              <a:rPr sz="3150" b="1">
                <a:solidFill>
                  <a:srgbClr val="6B4328"/>
                </a:solidFill>
              </a:rPr>
              <a:t>甲子 ／ 辛未 ／ 乙巳 ／ 丁亥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BAF6E5-4871-46B6-89D9-0D0C11D8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667000"/>
            <a:ext cx="3143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3EADF"/>
          </a:solidFill>
          <a:ln xmlns:a="http://schemas.openxmlformats.org/drawingml/2006/main" w="9525">
            <a:solidFill>
              <a:srgbClr val="E8D9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034FAC-F596-4C20-99EE-F8B043CA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8384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B7834B"/>
                </a:solidFill>
              </a:defRPr>
            </a:pPr>
            <a:r>
              <a:rPr sz="1500" b="1">
                <a:solidFill>
                  <a:srgbClr val="B7834B"/>
                </a:solidFill>
              </a:rPr>
              <a:t>日柱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AF9338-C5F8-41E5-B8F2-0EA7D895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19450"/>
            <a:ext cx="1381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00" b="1">
                <a:solidFill>
                  <a:srgbClr val="6B4328"/>
                </a:solidFill>
              </a:defRPr>
            </a:defPPr>
          </a:lstStyle>
          <a:p xmlns:a="http://schemas.openxmlformats.org/drawingml/2006/main">
            <a:pPr algn="ctr">
              <a:defRPr sz="3900" b="1">
                <a:solidFill>
                  <a:srgbClr val="6B4328"/>
                </a:solidFill>
              </a:defRPr>
            </a:pPr>
            <a:r>
              <a:rPr sz="3900" b="1">
                <a:solidFill>
                  <a:srgbClr val="6B4328"/>
                </a:solidFill>
              </a:rPr>
              <a:t>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046A7B-FC24-4A8B-BC50-2AC1D172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19450"/>
            <a:ext cx="1381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0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ctr">
              <a:defRPr sz="3900" b="1">
                <a:solidFill>
                  <a:srgbClr val="34261F"/>
                </a:solidFill>
              </a:defRPr>
            </a:pPr>
            <a:r>
              <a:rPr sz="3900" b="1">
                <a:solidFill>
                  <a:srgbClr val="34261F"/>
                </a:solidFill>
              </a:rPr>
              <a:t>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D086A4-9880-4FFF-8AA1-0EEB2997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21005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35664A"/>
                </a:solidFill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35664A"/>
                </a:solidFill>
              </a:defRPr>
            </a:pPr>
            <a:r>
              <a:rPr sz="1350" b="1">
                <a:solidFill>
                  <a:srgbClr val="35664A"/>
                </a:solidFill>
              </a:rPr>
              <a:t>日主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0229E2-9133-4882-8DE2-E17EB543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34261F"/>
                </a:solidFill>
              </a:defRPr>
            </a:pPr>
            <a:r>
              <a:rPr sz="1350" b="1">
                <a:solidFill>
                  <a:srgbClr val="34261F"/>
                </a:solidFill>
              </a:rPr>
              <a:t>日支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3E4EAB-3FD2-4220-AE80-B50DBCD7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6255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34261F"/>
                </a:solidFill>
              </a:defRPr>
            </a:pPr>
            <a:r>
              <a:rPr sz="2025" b="1">
                <a:solidFill>
                  <a:srgbClr val="34261F"/>
                </a:solidFill>
              </a:rPr>
              <a:t>ここでは乙を確認する。性格や将来はまだ決めない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E37365-8730-416A-AC46-40520319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867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9B4339"/>
                </a:solidFill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9B4339"/>
                </a:solidFill>
              </a:defRPr>
            </a:pPr>
            <a:r>
              <a:rPr sz="1125" b="1">
                <a:solidFill>
                  <a:srgbClr val="9B4339"/>
                </a:solidFill>
              </a:rPr>
              <a:t>教材用の模式例</a:t>
            </a:r>
          </a:p>
        </p:txBody>
      </p:sp>
    </p:spTree>
    <p:extLst>
      <p:ext uri="{BB962C8B-B14F-4D97-AF65-F5344CB8AC3E}">
        <p14:creationId xmlns:p14="http://schemas.microsoft.com/office/powerpoint/2010/main" val="8108691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4466C2-58DE-47FA-B815-F1BF47C8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3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36D5AB-F429-4CF5-9C3B-C089BEC9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B7834B"/>
                </a:solidFill>
              </a:defRPr>
            </a:pPr>
            <a:r>
              <a:rPr sz="1275" b="1">
                <a:solidFill>
                  <a:srgbClr val="B7834B"/>
                </a:solidFill>
              </a:rPr>
              <a:t>第1講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1F8D5B-E1FD-4EC4-803F-E447BF1C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34261F"/>
                </a:solidFill>
              </a:defRPr>
            </a:pPr>
            <a:r>
              <a:rPr sz="2850" b="1">
                <a:solidFill>
                  <a:srgbClr val="34261F"/>
                </a:solidFill>
              </a:rPr>
              <a:t>事実と解釈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5E3AE1-4406-417D-831D-1BD022C2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B7834B"/>
                </a:solidFill>
              </a:defRPr>
            </a:pPr>
            <a:r>
              <a:rPr sz="1125" b="1">
                <a:solidFill>
                  <a:srgbClr val="B7834B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3A5B5F-1BC9-462C-8855-DE17E887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383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35664A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35664A"/>
                </a:solidFill>
              </a:defRPr>
            </a:pPr>
            <a:r>
              <a:rPr sz="2100" b="1">
                <a:solidFill>
                  <a:srgbClr val="35664A"/>
                </a:solidFill>
              </a:rPr>
              <a:t>確認できた事実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0C142E-6468-4FD6-A764-E7B0E3A47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383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9B4339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9B4339"/>
                </a:solidFill>
              </a:defRPr>
            </a:pPr>
            <a:r>
              <a:rPr sz="2100" b="1">
                <a:solidFill>
                  <a:srgbClr val="9B4339"/>
                </a:solidFill>
              </a:rPr>
              <a:t>追加根拠が必要な解釈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85E9F6-0F73-4AF0-AA46-9F23AC42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485775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CF4EE"/>
          </a:solidFill>
          <a:ln xmlns:a="http://schemas.openxmlformats.org/drawingml/2006/main" w="9525">
            <a:solidFill>
              <a:srgbClr val="B9D2C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BAD78A-E0BE-469D-B5AB-CF6828FC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38375"/>
            <a:ext cx="485775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8ECE9"/>
          </a:solidFill>
          <a:ln xmlns:a="http://schemas.openxmlformats.org/drawingml/2006/main" w="9525">
            <a:solidFill>
              <a:srgbClr val="DEBB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BBBCCF-2CA5-45F9-BDDA-01F75D42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600325"/>
            <a:ext cx="40481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34261F"/>
                </a:solidFill>
              </a:defRPr>
            </a:pPr>
            <a:r>
              <a:rPr sz="2250" b="1">
                <a:solidFill>
                  <a:srgbClr val="34261F"/>
                </a:solidFill>
              </a:rPr>
              <a:t>四柱の位置</a:t>
            </a:r>
          </a:p>
          <a:p xmlns:a="http://schemas.openxmlformats.org/drawingml/2006/main">
            <a:pPr algn="ctr">
              <a:defRPr sz="2250" b="1">
                <a:solidFill>
                  <a:srgbClr val="34261F"/>
                </a:solidFill>
              </a:defRPr>
            </a:pPr>
            <a:r>
              <a:rPr sz="2250" b="1">
                <a:solidFill>
                  <a:srgbClr val="34261F"/>
                </a:solidFill>
              </a:rPr>
              <a:t>天干と地支</a:t>
            </a:r>
          </a:p>
          <a:p xmlns:a="http://schemas.openxmlformats.org/drawingml/2006/main">
            <a:pPr algn="ctr">
              <a:defRPr sz="2250" b="1">
                <a:solidFill>
                  <a:srgbClr val="34261F"/>
                </a:solidFill>
              </a:defRPr>
            </a:pPr>
            <a:r>
              <a:rPr sz="2250" b="1">
                <a:solidFill>
                  <a:srgbClr val="34261F"/>
                </a:solidFill>
              </a:rPr>
              <a:t>日主は乙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17629C-4DFA-4026-86EB-3DC9F69C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00325"/>
            <a:ext cx="40481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34261F"/>
                </a:solidFill>
              </a:defRPr>
            </a:pPr>
            <a:r>
              <a:rPr sz="2250" b="1">
                <a:solidFill>
                  <a:srgbClr val="34261F"/>
                </a:solidFill>
              </a:rPr>
              <a:t>性格</a:t>
            </a:r>
          </a:p>
          <a:p xmlns:a="http://schemas.openxmlformats.org/drawingml/2006/main">
            <a:pPr algn="ctr">
              <a:defRPr sz="2250" b="1">
                <a:solidFill>
                  <a:srgbClr val="34261F"/>
                </a:solidFill>
              </a:defRPr>
            </a:pPr>
            <a:r>
              <a:rPr sz="2250" b="1">
                <a:solidFill>
                  <a:srgbClr val="34261F"/>
                </a:solidFill>
              </a:rPr>
              <a:t>将来の出来事</a:t>
            </a:r>
          </a:p>
          <a:p xmlns:a="http://schemas.openxmlformats.org/drawingml/2006/main">
            <a:pPr algn="ctr">
              <a:defRPr sz="2250" b="1">
                <a:solidFill>
                  <a:srgbClr val="34261F"/>
                </a:solidFill>
              </a:defRPr>
            </a:pPr>
            <a:r>
              <a:rPr sz="2250" b="1">
                <a:solidFill>
                  <a:srgbClr val="34261F"/>
                </a:solidFill>
              </a:rPr>
              <a:t>吉凶の断定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C82D7E-A9E6-407B-9F20-B829413A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81625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1">
                <a:solidFill>
                  <a:srgbClr val="6B4328"/>
                </a:solidFill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6B4328"/>
                </a:solidFill>
              </a:defRPr>
            </a:pPr>
            <a:r>
              <a:rPr sz="2175" b="1">
                <a:solidFill>
                  <a:srgbClr val="6B4328"/>
                </a:solidFill>
              </a:rPr>
              <a:t>命式にない情報を補わない</a:t>
            </a:r>
          </a:p>
        </p:txBody>
      </p:sp>
    </p:spTree>
    <p:extLst>
      <p:ext uri="{BB962C8B-B14F-4D97-AF65-F5344CB8AC3E}">
        <p14:creationId xmlns:p14="http://schemas.microsoft.com/office/powerpoint/2010/main" val="8853640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678BA1-BC4B-43AB-B5CD-2DB454EA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3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EEE50A-31AB-4546-A6AC-965ED2AB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B7834B"/>
                </a:solidFill>
              </a:defRPr>
            </a:pPr>
            <a:r>
              <a:rPr sz="1275" b="1">
                <a:solidFill>
                  <a:srgbClr val="B7834B"/>
                </a:solidFill>
              </a:rPr>
              <a:t>第1講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36F2BE-19C1-48CE-8CDC-8F918DF6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34261F"/>
                </a:solidFill>
              </a:defRPr>
            </a:pPr>
            <a:r>
              <a:rPr sz="2850" b="1">
                <a:solidFill>
                  <a:srgbClr val="34261F"/>
                </a:solidFill>
              </a:rPr>
              <a:t>出生時刻が分からない場合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B8B34A-276D-4353-A503-E06C8F7F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B7834B"/>
                </a:solidFill>
              </a:defRPr>
            </a:pPr>
            <a:r>
              <a:rPr sz="1125" b="1">
                <a:solidFill>
                  <a:srgbClr val="B7834B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F14654-0CC0-4DDE-8CF9-E7F8B25A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2095500" cy="2190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3EADF"/>
          </a:solidFill>
          <a:ln xmlns:a="http://schemas.openxmlformats.org/drawingml/2006/main" w="9525">
            <a:solidFill>
              <a:srgbClr val="E8D9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FDD222-21BA-41A5-B876-0E98B351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6B4328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6B4328"/>
                </a:solidFill>
              </a:defRPr>
            </a:pPr>
            <a:r>
              <a:rPr sz="1725" b="1">
                <a:solidFill>
                  <a:srgbClr val="6B4328"/>
                </a:solidFill>
              </a:rPr>
              <a:t>年柱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8F1AE4-FD0A-4EA3-87AC-80B1DF51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209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000" b="1">
                <a:solidFill>
                  <a:srgbClr val="35664A"/>
                </a:solidFill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35664A"/>
                </a:solidFill>
              </a:defRPr>
            </a:pPr>
            <a:r>
              <a:rPr sz="3000" b="1">
                <a:solidFill>
                  <a:srgbClr val="35664A"/>
                </a:solidFill>
              </a:rPr>
              <a:t>確認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0D5DB2-BDF7-4363-9242-49947B1D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95500"/>
            <a:ext cx="2095500" cy="2190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3EADF"/>
          </a:solidFill>
          <a:ln xmlns:a="http://schemas.openxmlformats.org/drawingml/2006/main" w="9525">
            <a:solidFill>
              <a:srgbClr val="E8D9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EDBFA4-AF96-49CF-B036-4FEB0EB5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238375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6B4328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6B4328"/>
                </a:solidFill>
              </a:defRPr>
            </a:pPr>
            <a:r>
              <a:rPr sz="1725" b="1">
                <a:solidFill>
                  <a:srgbClr val="6B4328"/>
                </a:solidFill>
              </a:rPr>
              <a:t>月柱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00097C-83B4-48FE-A5C9-9985B741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38450"/>
            <a:ext cx="209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000" b="1">
                <a:solidFill>
                  <a:srgbClr val="35664A"/>
                </a:solidFill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35664A"/>
                </a:solidFill>
              </a:defRPr>
            </a:pPr>
            <a:r>
              <a:rPr sz="3000" b="1">
                <a:solidFill>
                  <a:srgbClr val="35664A"/>
                </a:solidFill>
              </a:rPr>
              <a:t>確認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3F37BF-BCB1-4B67-901B-7BC20303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2095500" cy="2190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3EADF"/>
          </a:solidFill>
          <a:ln xmlns:a="http://schemas.openxmlformats.org/drawingml/2006/main" w="9525">
            <a:solidFill>
              <a:srgbClr val="E8D9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0963A2-0399-49C9-81C1-A14E7D2D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38375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6B4328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6B4328"/>
                </a:solidFill>
              </a:defRPr>
            </a:pPr>
            <a:r>
              <a:rPr sz="1725" b="1">
                <a:solidFill>
                  <a:srgbClr val="6B4328"/>
                </a:solidFill>
              </a:rPr>
              <a:t>日柱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A2DABC-8868-4D1E-A44E-17E4C9F6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38450"/>
            <a:ext cx="209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000" b="1">
                <a:solidFill>
                  <a:srgbClr val="35664A"/>
                </a:solidFill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35664A"/>
                </a:solidFill>
              </a:defRPr>
            </a:pPr>
            <a:r>
              <a:rPr sz="3000" b="1">
                <a:solidFill>
                  <a:srgbClr val="35664A"/>
                </a:solidFill>
              </a:rPr>
              <a:t>確認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C7E67B-BA5A-48E1-AC1C-FAF8D719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95500"/>
            <a:ext cx="2095500" cy="2190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ED8D1"/>
          </a:solidFill>
          <a:ln xmlns:a="http://schemas.openxmlformats.org/drawingml/2006/main" w="9525">
            <a:solidFill>
              <a:srgbClr val="E8D9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53550B-AAF3-4458-83E7-7DC1F668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38375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766F69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766F69"/>
                </a:solidFill>
              </a:defRPr>
            </a:pPr>
            <a:r>
              <a:rPr sz="1725" b="1">
                <a:solidFill>
                  <a:srgbClr val="766F69"/>
                </a:solidFill>
              </a:rPr>
              <a:t>時柱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07CFF1-B445-49B5-B433-4FE5455C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38450"/>
            <a:ext cx="209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000" b="1">
                <a:solidFill>
                  <a:srgbClr val="766F69"/>
                </a:solidFill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766F69"/>
                </a:solidFill>
              </a:defRPr>
            </a:pPr>
            <a:r>
              <a:rPr sz="3000" b="1">
                <a:solidFill>
                  <a:srgbClr val="766F69"/>
                </a:solidFill>
              </a:rPr>
              <a:t>不明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D4DD9C-3AFC-4AD2-A3E7-51AF4ABF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34261F"/>
                </a:solidFill>
              </a:defRPr>
            </a:pPr>
            <a:r>
              <a:rPr sz="2250" b="1">
                <a:solidFill>
                  <a:srgbClr val="34261F"/>
                </a:solidFill>
              </a:rPr>
              <a:t>時柱を推測せず、確認できる三柱の範囲を明記する</a:t>
            </a:r>
          </a:p>
        </p:txBody>
      </p:sp>
    </p:spTree>
    <p:extLst>
      <p:ext uri="{BB962C8B-B14F-4D97-AF65-F5344CB8AC3E}">
        <p14:creationId xmlns:p14="http://schemas.microsoft.com/office/powerpoint/2010/main" val="3158313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4A97EB-CC12-44AA-91CD-4D59AD8B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3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91A1DD-DB45-493C-B410-9B32D83C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B7834B"/>
                </a:solidFill>
              </a:defRPr>
            </a:pPr>
            <a:r>
              <a:rPr sz="1275" b="1">
                <a:solidFill>
                  <a:srgbClr val="B7834B"/>
                </a:solidFill>
              </a:rPr>
              <a:t>第1講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B3634B-9BAA-4D4F-8879-A02539B7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34261F"/>
                </a:solidFill>
              </a:defRPr>
            </a:pPr>
            <a:r>
              <a:rPr sz="2850" b="1">
                <a:solidFill>
                  <a:srgbClr val="34261F"/>
                </a:solidFill>
              </a:rPr>
              <a:t>命式を読む順序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B6C21F-8276-48A1-9E25-0BF1A56D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B7834B"/>
                </a:solidFill>
              </a:defRPr>
            </a:pPr>
            <a:r>
              <a:rPr sz="1125" b="1">
                <a:solidFill>
                  <a:srgbClr val="B7834B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C5DAEE-F30A-43A6-9A87-A858F8AE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14325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3EADF"/>
          </a:solidFill>
          <a:ln xmlns:a="http://schemas.openxmlformats.org/drawingml/2006/main" w="9525">
            <a:solidFill>
              <a:srgbClr val="E8D9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300E79-691D-4FA6-A24E-AF29C2BB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450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ctr">
              <a:defRPr sz="3450" b="1">
                <a:solidFill>
                  <a:srgbClr val="B7834B"/>
                </a:solidFill>
              </a:defRPr>
            </a:pPr>
            <a:r>
              <a:rPr sz="3450" b="1">
                <a:solidFill>
                  <a:srgbClr val="B7834B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90BD27-1DD9-4257-A516-327305B1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34261F"/>
                </a:solidFill>
              </a:defRPr>
            </a:pPr>
            <a:r>
              <a:rPr sz="2175" b="1">
                <a:solidFill>
                  <a:srgbClr val="34261F"/>
                </a:solidFill>
              </a:rPr>
              <a:t>事実を写す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67ED4C-F0F1-41C7-93FF-926F9EF2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095500"/>
            <a:ext cx="314325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3EADF"/>
          </a:solidFill>
          <a:ln xmlns:a="http://schemas.openxmlformats.org/drawingml/2006/main" w="9525">
            <a:solidFill>
              <a:srgbClr val="E8D9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A2A00F-4455-48AD-913A-EB4CABBA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28600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450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ctr">
              <a:defRPr sz="3450" b="1">
                <a:solidFill>
                  <a:srgbClr val="B7834B"/>
                </a:solidFill>
              </a:defRPr>
            </a:pPr>
            <a:r>
              <a:rPr sz="3450" b="1">
                <a:solidFill>
                  <a:srgbClr val="B7834B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179EED-18C8-4D68-943D-F1C468CE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1432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34261F"/>
                </a:solidFill>
              </a:defRPr>
            </a:pPr>
            <a:r>
              <a:rPr sz="2175" b="1">
                <a:solidFill>
                  <a:srgbClr val="34261F"/>
                </a:solidFill>
              </a:rPr>
              <a:t>関係を確認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FAFBD4-8ADE-4402-B621-B3A0C7D3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95500"/>
            <a:ext cx="314325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7F0E9"/>
          </a:solidFill>
          <a:ln xmlns:a="http://schemas.openxmlformats.org/drawingml/2006/main" w="9525">
            <a:solidFill>
              <a:srgbClr val="E8D9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2DEE7A-3436-4FCC-BF92-285CA232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8600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450" b="1">
                <a:solidFill>
                  <a:srgbClr val="35664A"/>
                </a:solidFill>
              </a:defRPr>
            </a:defPPr>
          </a:lstStyle>
          <a:p xmlns:a="http://schemas.openxmlformats.org/drawingml/2006/main">
            <a:pPr algn="ctr">
              <a:defRPr sz="3450" b="1">
                <a:solidFill>
                  <a:srgbClr val="35664A"/>
                </a:solidFill>
              </a:defRPr>
            </a:pPr>
            <a:r>
              <a:rPr sz="3450" b="1">
                <a:solidFill>
                  <a:srgbClr val="35664A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ECBBAC-7B61-48BC-B590-415E865F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432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34261F"/>
                </a:solidFill>
              </a:defRPr>
            </a:pPr>
            <a:r>
              <a:rPr sz="2175" b="1">
                <a:solidFill>
                  <a:srgbClr val="34261F"/>
                </a:solidFill>
              </a:rPr>
              <a:t>解釈を述べる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32FABA-CC9E-4768-BDBB-C5AE9E4B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43500"/>
            <a:ext cx="914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6B4328"/>
                </a:solidFill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6B4328"/>
                </a:solidFill>
              </a:defRPr>
            </a:pPr>
            <a:r>
              <a:rPr sz="2025" b="1">
                <a:solidFill>
                  <a:srgbClr val="6B4328"/>
                </a:solidFill>
              </a:rPr>
              <a:t>順序を分けると、後から根拠を見直せる</a:t>
            </a:r>
          </a:p>
        </p:txBody>
      </p:sp>
    </p:spTree>
    <p:extLst>
      <p:ext uri="{BB962C8B-B14F-4D97-AF65-F5344CB8AC3E}">
        <p14:creationId xmlns:p14="http://schemas.microsoft.com/office/powerpoint/2010/main" val="13934351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2E24F9-2C50-44F1-BC1B-4341D04B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3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79E004-D819-494C-AFF7-9A3D6CA9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B7834B"/>
                </a:solidFill>
              </a:defRPr>
            </a:pPr>
            <a:r>
              <a:rPr sz="1275" b="1">
                <a:solidFill>
                  <a:srgbClr val="B7834B"/>
                </a:solidFill>
              </a:rPr>
              <a:t>第1講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B1372C-EECB-43E6-BC73-6F34AED3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34261F"/>
                </a:solidFill>
              </a:defRPr>
            </a:pPr>
            <a:r>
              <a:rPr sz="2850" b="1">
                <a:solidFill>
                  <a:srgbClr val="34261F"/>
                </a:solidFill>
              </a:rPr>
              <a:t>よくある間違い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CFEFB7-D85D-4476-9F09-CDBE2A74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B7834B"/>
                </a:solidFill>
              </a:defRPr>
            </a:pPr>
            <a:r>
              <a:rPr sz="1125" b="1">
                <a:solidFill>
                  <a:srgbClr val="B7834B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0D228D-D792-46DC-84D7-DAAAE3AB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6212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000" b="1">
                <a:solidFill>
                  <a:srgbClr val="9B4339"/>
                </a:solidFill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9B4339"/>
                </a:solidFill>
              </a:defRPr>
            </a:pPr>
            <a:r>
              <a:rPr sz="3000" b="1">
                <a:solidFill>
                  <a:srgbClr val="9B4339"/>
                </a:solidFill>
              </a:rPr>
              <a:t>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881F04-C533-4BB1-A459-476A3514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762125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34261F"/>
                </a:solidFill>
              </a:defRPr>
            </a:pPr>
            <a:r>
              <a:rPr sz="2250" b="1">
                <a:solidFill>
                  <a:srgbClr val="34261F"/>
                </a:solidFill>
              </a:rPr>
              <a:t>年柱だけで性格を決める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97A204-7C73-4846-B73E-D79591F8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000" b="1">
                <a:solidFill>
                  <a:srgbClr val="9B4339"/>
                </a:solidFill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9B4339"/>
                </a:solidFill>
              </a:defRPr>
            </a:pPr>
            <a:r>
              <a:rPr sz="3000" b="1">
                <a:solidFill>
                  <a:srgbClr val="9B4339"/>
                </a:solidFill>
              </a:rPr>
              <a:t>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410EB8-7AD0-4145-965D-11780802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9527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34261F"/>
                </a:solidFill>
              </a:defRPr>
            </a:pPr>
            <a:r>
              <a:rPr sz="2250" b="1">
                <a:solidFill>
                  <a:srgbClr val="34261F"/>
                </a:solidFill>
              </a:rPr>
              <a:t>日主だけで未来を断定する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ABD673-7412-4552-814C-36E7BF5BA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4337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000" b="1">
                <a:solidFill>
                  <a:srgbClr val="9B4339"/>
                </a:solidFill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9B4339"/>
                </a:solidFill>
              </a:defRPr>
            </a:pPr>
            <a:r>
              <a:rPr sz="3000" b="1">
                <a:solidFill>
                  <a:srgbClr val="9B4339"/>
                </a:solidFill>
              </a:rPr>
              <a:t>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0479C8-9D3C-445E-8300-2064EEFF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143375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34261F"/>
                </a:solidFill>
              </a:defRPr>
            </a:pPr>
            <a:r>
              <a:rPr sz="2250" b="1">
                <a:solidFill>
                  <a:srgbClr val="34261F"/>
                </a:solidFill>
              </a:rPr>
              <a:t>命式にない情報を補う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45CD54-DEFE-4C54-90FA-752C359E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6735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1">
                <a:solidFill>
                  <a:srgbClr val="6B4328"/>
                </a:solidFill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6B4328"/>
                </a:solidFill>
              </a:defRPr>
            </a:pPr>
            <a:r>
              <a:rPr sz="2175" b="1">
                <a:solidFill>
                  <a:srgbClr val="6B4328"/>
                </a:solidFill>
              </a:rPr>
              <a:t>一つの文字だけで結論を出さない</a:t>
            </a:r>
          </a:p>
        </p:txBody>
      </p:sp>
    </p:spTree>
    <p:extLst>
      <p:ext uri="{BB962C8B-B14F-4D97-AF65-F5344CB8AC3E}">
        <p14:creationId xmlns:p14="http://schemas.microsoft.com/office/powerpoint/2010/main" val="12871554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3BB635-9BFA-44F2-AAD3-C0F43ED0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3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4065EA-5CF6-456B-A4F3-E6C8989A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B7834B"/>
                </a:solidFill>
              </a:defRPr>
            </a:pPr>
            <a:r>
              <a:rPr sz="1275" b="1">
                <a:solidFill>
                  <a:srgbClr val="B7834B"/>
                </a:solidFill>
              </a:rPr>
              <a:t>第1講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0C55AF-A1D2-4637-9A3E-80262EE7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34261F"/>
                </a:solidFill>
              </a:defRPr>
            </a:pPr>
            <a:r>
              <a:rPr sz="2850" b="1">
                <a:solidFill>
                  <a:srgbClr val="34261F"/>
                </a:solidFill>
              </a:rPr>
              <a:t>第1講のまとめ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222885-432D-44A7-B37E-B24A313B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B7834B"/>
                </a:solidFill>
              </a:defRPr>
            </a:pPr>
            <a:r>
              <a:rPr sz="1125" b="1">
                <a:solidFill>
                  <a:srgbClr val="B7834B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FBEDD7-6542-4052-B3B9-44EDB253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7526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34261F"/>
                </a:solidFill>
              </a:defRPr>
            </a:pPr>
            <a:r>
              <a:rPr sz="2325" b="1">
                <a:solidFill>
                  <a:srgbClr val="34261F"/>
                </a:solidFill>
              </a:rPr>
              <a:t>四柱は年・月・日・時の四つ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EA0DE6-3AB6-44BF-93E9-83C481C3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76500"/>
            <a:ext cx="981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3C23D4-FB1E-4568-9374-816F224A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813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34261F"/>
                </a:solidFill>
              </a:defRPr>
            </a:pPr>
            <a:r>
              <a:rPr sz="2325" b="1">
                <a:solidFill>
                  <a:srgbClr val="34261F"/>
                </a:solidFill>
              </a:rPr>
              <a:t>日主は日柱の天干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6EBA2B-7154-4E02-B77D-A208AD2B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05200"/>
            <a:ext cx="981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0EF089-779B-46EB-92D5-34D4DF55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100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34261F"/>
                </a:solidFill>
              </a:defRPr>
            </a:pPr>
            <a:r>
              <a:rPr sz="2325" b="1">
                <a:solidFill>
                  <a:srgbClr val="34261F"/>
                </a:solidFill>
              </a:rPr>
              <a:t>事実と解釈を分けて記録する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FC6A56-AD3A-4655-8322-415211E6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048250"/>
            <a:ext cx="6191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6B43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856F2D-0219-4470-BD4C-DD2AA247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143500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次へ　理解度チェック</a:t>
            </a:r>
          </a:p>
        </p:txBody>
      </p:sp>
    </p:spTree>
    <p:extLst>
      <p:ext uri="{BB962C8B-B14F-4D97-AF65-F5344CB8AC3E}">
        <p14:creationId xmlns:p14="http://schemas.microsoft.com/office/powerpoint/2010/main" val="10155077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2026-10-15T03:41:51.8470000Z</dcterms:created>
  <dcterms:modified xsi:type="dcterms:W3CDTF">2026-10-15T03:41:51.8470000Z</dcterms:modified>
</coreProperties>
</file>